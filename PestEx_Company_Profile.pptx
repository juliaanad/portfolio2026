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E"/>
        </a:solidFill>
        <a:effectLst/>
      </p:bgPr>
    </p:bg>
    <p:spTree>
      <p:nvGrpSpPr>
        <p:cNvPr id="1" name=""/>
        <p:cNvGrpSpPr/>
        <p:nvPr/>
      </p:nvGrpSpPr>
      <p:grpSpPr/>
      <p:sp>
        <p:nvSpPr>
          <p:cNvPr id="2" name="Rectangle 1"/>
          <p:cNvSpPr/>
          <p:nvPr/>
        </p:nvSpPr>
        <p:spPr>
          <a:xfrm>
            <a:off x="0" y="6217920"/>
            <a:ext cx="12188952" cy="640080"/>
          </a:xfrm>
          <a:prstGeom prst="rect">
            <a:avLst/>
          </a:prstGeom>
          <a:solidFill>
            <a:srgbClr val="B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48640"/>
            <a:ext cx="5486400" cy="1097280"/>
          </a:xfrm>
          <a:prstGeom prst="rect">
            <a:avLst/>
          </a:prstGeom>
          <a:noFill/>
        </p:spPr>
        <p:txBody>
          <a:bodyPr wrap="none">
            <a:spAutoFit/>
          </a:bodyPr>
          <a:lstStyle/>
          <a:p>
            <a:r>
              <a:rPr sz="5200" b="1">
                <a:solidFill>
                  <a:srgbClr val="FFFFFF"/>
                </a:solidFill>
              </a:rPr>
              <a:t>pest-</a:t>
            </a:r>
            <a:r>
              <a:rPr sz="5200" b="1">
                <a:solidFill>
                  <a:srgbClr val="BB1A1A"/>
                </a:solidFill>
              </a:rPr>
              <a:t>ex</a:t>
            </a:r>
          </a:p>
        </p:txBody>
      </p:sp>
      <p:sp>
        <p:nvSpPr>
          <p:cNvPr id="4" name="TextBox 3"/>
          <p:cNvSpPr txBox="1"/>
          <p:nvPr/>
        </p:nvSpPr>
        <p:spPr>
          <a:xfrm>
            <a:off x="640080" y="1645920"/>
            <a:ext cx="7315200" cy="914400"/>
          </a:xfrm>
          <a:prstGeom prst="rect">
            <a:avLst/>
          </a:prstGeom>
          <a:noFill/>
        </p:spPr>
        <p:txBody>
          <a:bodyPr wrap="square">
            <a:spAutoFit/>
          </a:bodyPr>
          <a:lstStyle/>
          <a:p>
            <a:pPr algn="l"/>
            <a:r>
              <a:rPr sz="4200" b="1" i="0">
                <a:solidFill>
                  <a:srgbClr val="FFFFFF"/>
                </a:solidFill>
              </a:rPr>
              <a:t>Company Profile</a:t>
            </a:r>
          </a:p>
        </p:txBody>
      </p:sp>
      <p:sp>
        <p:nvSpPr>
          <p:cNvPr id="5" name="TextBox 4"/>
          <p:cNvSpPr txBox="1"/>
          <p:nvPr/>
        </p:nvSpPr>
        <p:spPr>
          <a:xfrm>
            <a:off x="640080" y="2651760"/>
            <a:ext cx="3657600" cy="640080"/>
          </a:xfrm>
          <a:prstGeom prst="rect">
            <a:avLst/>
          </a:prstGeom>
          <a:noFill/>
        </p:spPr>
        <p:txBody>
          <a:bodyPr wrap="square">
            <a:spAutoFit/>
          </a:bodyPr>
          <a:lstStyle/>
          <a:p>
            <a:pPr algn="l"/>
            <a:r>
              <a:rPr sz="3200" b="1" i="0">
                <a:solidFill>
                  <a:srgbClr val="BB1A1A"/>
                </a:solidFill>
              </a:rPr>
              <a:t>2026</a:t>
            </a:r>
          </a:p>
        </p:txBody>
      </p:sp>
      <p:sp>
        <p:nvSpPr>
          <p:cNvPr id="6" name="TextBox 5"/>
          <p:cNvSpPr txBox="1"/>
          <p:nvPr/>
        </p:nvSpPr>
        <p:spPr>
          <a:xfrm>
            <a:off x="640080" y="3383280"/>
            <a:ext cx="8229600" cy="548640"/>
          </a:xfrm>
          <a:prstGeom prst="rect">
            <a:avLst/>
          </a:prstGeom>
          <a:noFill/>
        </p:spPr>
        <p:txBody>
          <a:bodyPr wrap="square">
            <a:spAutoFit/>
          </a:bodyPr>
          <a:lstStyle/>
          <a:p>
            <a:pPr algn="l"/>
            <a:r>
              <a:rPr sz="1800" b="0" i="1">
                <a:solidFill>
                  <a:srgbClr val="E8E8E8"/>
                </a:solidFill>
              </a:rPr>
              <a:t>"Pest wants in, We keep them out!"</a:t>
            </a:r>
          </a:p>
        </p:txBody>
      </p:sp>
      <p:sp>
        <p:nvSpPr>
          <p:cNvPr id="7" name="TextBox 6"/>
          <p:cNvSpPr txBox="1"/>
          <p:nvPr/>
        </p:nvSpPr>
        <p:spPr>
          <a:xfrm>
            <a:off x="640080" y="6400800"/>
            <a:ext cx="10972800" cy="365760"/>
          </a:xfrm>
          <a:prstGeom prst="rect">
            <a:avLst/>
          </a:prstGeom>
          <a:noFill/>
        </p:spPr>
        <p:txBody>
          <a:bodyPr wrap="square">
            <a:spAutoFit/>
          </a:bodyPr>
          <a:lstStyle/>
          <a:p>
            <a:pPr algn="ctr"/>
            <a:r>
              <a:rPr sz="1300" b="0" i="0">
                <a:solidFill>
                  <a:srgbClr val="FFFFFF"/>
                </a:solidFill>
              </a:rPr>
              <a:t>(02) 8534 8380   |   www.pest-ex.com.ph   |   admin@pest-ex.com.ph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2E"/>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B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9144000" cy="914400"/>
          </a:xfrm>
          <a:prstGeom prst="rect">
            <a:avLst/>
          </a:prstGeom>
          <a:noFill/>
        </p:spPr>
        <p:txBody>
          <a:bodyPr wrap="square">
            <a:spAutoFit/>
          </a:bodyPr>
          <a:lstStyle/>
          <a:p>
            <a:pPr algn="l"/>
            <a:r>
              <a:rPr sz="3600" b="1" i="0">
                <a:solidFill>
                  <a:srgbClr val="FFFFFF"/>
                </a:solidFill>
              </a:rPr>
              <a:t>Who We Are</a:t>
            </a:r>
          </a:p>
        </p:txBody>
      </p:sp>
      <p:sp>
        <p:nvSpPr>
          <p:cNvPr id="4" name="Rectangle 3"/>
          <p:cNvSpPr/>
          <p:nvPr/>
        </p:nvSpPr>
        <p:spPr>
          <a:xfrm>
            <a:off x="0" y="6217920"/>
            <a:ext cx="12188952" cy="640080"/>
          </a:xfrm>
          <a:prstGeom prst="rect">
            <a:avLst/>
          </a:prstGeom>
          <a:solidFill>
            <a:srgbClr val="8B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0972800" cy="365760"/>
          </a:xfrm>
          <a:prstGeom prst="rect">
            <a:avLst/>
          </a:prstGeom>
          <a:noFill/>
        </p:spPr>
        <p:txBody>
          <a:bodyPr wrap="square">
            <a:spAutoFit/>
          </a:bodyPr>
          <a:lstStyle/>
          <a:p>
            <a:pPr algn="ctr"/>
            <a:r>
              <a:rPr sz="1100" b="0" i="0">
                <a:solidFill>
                  <a:srgbClr val="E8E8E8"/>
                </a:solidFill>
              </a:rPr>
              <a:t>pest-ex | www.pest-ex.com.ph</a:t>
            </a:r>
          </a:p>
        </p:txBody>
      </p:sp>
      <p:sp>
        <p:nvSpPr>
          <p:cNvPr id="6" name="TextBox 5"/>
          <p:cNvSpPr txBox="1"/>
          <p:nvPr/>
        </p:nvSpPr>
        <p:spPr>
          <a:xfrm>
            <a:off x="457200" y="1463040"/>
            <a:ext cx="11247120" cy="4572000"/>
          </a:xfrm>
          <a:prstGeom prst="rect">
            <a:avLst/>
          </a:prstGeom>
          <a:noFill/>
        </p:spPr>
        <p:txBody>
          <a:bodyPr wrap="square">
            <a:spAutoFit/>
          </a:bodyPr>
          <a:lstStyle/>
          <a:p>
            <a:pPr algn="l"/>
            <a:r>
              <a:rPr sz="1500">
                <a:solidFill>
                  <a:srgbClr val="E8E8E8"/>
                </a:solidFill>
              </a:rPr>
              <a:t>Pest-Ex was established 16 years ago in Australia by husband-and-wife team Danny and Maria Kelly. Since its inception, the company has expanded nationwide and is widely recognized as one of Australia's leading professional pest control providers.
Over the past 16 years, Pest-Ex has successfully protected more than 10,000 homes and businesses. Built on integrity and professionalism, the company has earned a strong reputation as an industry leader in pest and termite control.
Through regular visits to the Philippines, Danny and Maria identified an opportunity to extend Pest-Ex's services to Manila. Drawing directly from the proven Australian business model, Pest-Ex rapidly expanded throughout Manila as a trusted pest control provider.
Now recognized as one of the most respected pest control companies in the Philippines, our qualified team services Manila, Makati, and Quezon City — offering comprehensive pest control and prevention services for both residential and commercial clients.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2E"/>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B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9144000" cy="914400"/>
          </a:xfrm>
          <a:prstGeom prst="rect">
            <a:avLst/>
          </a:prstGeom>
          <a:noFill/>
        </p:spPr>
        <p:txBody>
          <a:bodyPr wrap="square">
            <a:spAutoFit/>
          </a:bodyPr>
          <a:lstStyle/>
          <a:p>
            <a:pPr algn="l"/>
            <a:r>
              <a:rPr sz="3600" b="1" i="0">
                <a:solidFill>
                  <a:srgbClr val="FFFFFF"/>
                </a:solidFill>
              </a:rPr>
              <a:t>What We Do</a:t>
            </a:r>
          </a:p>
        </p:txBody>
      </p:sp>
      <p:sp>
        <p:nvSpPr>
          <p:cNvPr id="4" name="Rectangle 3"/>
          <p:cNvSpPr/>
          <p:nvPr/>
        </p:nvSpPr>
        <p:spPr>
          <a:xfrm>
            <a:off x="0" y="6217920"/>
            <a:ext cx="12188952" cy="640080"/>
          </a:xfrm>
          <a:prstGeom prst="rect">
            <a:avLst/>
          </a:prstGeom>
          <a:solidFill>
            <a:srgbClr val="8B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0972800" cy="365760"/>
          </a:xfrm>
          <a:prstGeom prst="rect">
            <a:avLst/>
          </a:prstGeom>
          <a:noFill/>
        </p:spPr>
        <p:txBody>
          <a:bodyPr wrap="square">
            <a:spAutoFit/>
          </a:bodyPr>
          <a:lstStyle/>
          <a:p>
            <a:pPr algn="ctr"/>
            <a:r>
              <a:rPr sz="1100" b="0" i="0">
                <a:solidFill>
                  <a:srgbClr val="E8E8E8"/>
                </a:solidFill>
              </a:rPr>
              <a:t>pest-ex | www.pest-ex.com.ph</a:t>
            </a:r>
          </a:p>
        </p:txBody>
      </p:sp>
      <p:sp>
        <p:nvSpPr>
          <p:cNvPr id="6" name="Rectangle 5"/>
          <p:cNvSpPr/>
          <p:nvPr/>
        </p:nvSpPr>
        <p:spPr>
          <a:xfrm>
            <a:off x="365760" y="1463040"/>
            <a:ext cx="5486400" cy="2240280"/>
          </a:xfrm>
          <a:prstGeom prst="rect">
            <a:avLst/>
          </a:prstGeom>
          <a:solidFill>
            <a:srgbClr val="1A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600200"/>
            <a:ext cx="5120640" cy="1965960"/>
          </a:xfrm>
          <a:prstGeom prst="rect">
            <a:avLst/>
          </a:prstGeom>
          <a:noFill/>
        </p:spPr>
        <p:txBody>
          <a:bodyPr wrap="square">
            <a:spAutoFit/>
          </a:bodyPr>
          <a:lstStyle/>
          <a:p>
            <a:r>
              <a:rPr sz="1400" b="1">
                <a:solidFill>
                  <a:srgbClr val="BB1A1A"/>
                </a:solidFill>
              </a:rPr>
              <a:t>1. General Pest Control</a:t>
            </a:r>
          </a:p>
          <a:p>
            <a:pPr algn="l"/>
            <a:r>
              <a:rPr sz="1200" b="0" i="0">
                <a:solidFill>
                  <a:srgbClr val="E8E8E8"/>
                </a:solidFill>
              </a:rPr>
              <a:t>• Elimination and prevention of ants, cockroaches, rodents, spiders, fleas, mosquitoes, and bed bugs</a:t>
            </a:r>
          </a:p>
          <a:p>
            <a:pPr algn="l"/>
            <a:r>
              <a:rPr sz="1200" b="0" i="0">
                <a:solidFill>
                  <a:srgbClr val="E8E8E8"/>
                </a:solidFill>
              </a:rPr>
              <a:t>• Tailored treatments based on property type, infestation level, and pest species</a:t>
            </a:r>
          </a:p>
        </p:txBody>
      </p:sp>
      <p:sp>
        <p:nvSpPr>
          <p:cNvPr id="8" name="Rectangle 7"/>
          <p:cNvSpPr/>
          <p:nvPr/>
        </p:nvSpPr>
        <p:spPr>
          <a:xfrm>
            <a:off x="6217920" y="1463040"/>
            <a:ext cx="5486400" cy="2240280"/>
          </a:xfrm>
          <a:prstGeom prst="rect">
            <a:avLst/>
          </a:prstGeom>
          <a:solidFill>
            <a:srgbClr val="1A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00200"/>
            <a:ext cx="5120640" cy="1965960"/>
          </a:xfrm>
          <a:prstGeom prst="rect">
            <a:avLst/>
          </a:prstGeom>
          <a:noFill/>
        </p:spPr>
        <p:txBody>
          <a:bodyPr wrap="square">
            <a:spAutoFit/>
          </a:bodyPr>
          <a:lstStyle/>
          <a:p>
            <a:r>
              <a:rPr sz="1400" b="1">
                <a:solidFill>
                  <a:srgbClr val="BB1A1A"/>
                </a:solidFill>
              </a:rPr>
              <a:t>2. Termite Inspection &amp; Treatment</a:t>
            </a:r>
          </a:p>
          <a:p>
            <a:pPr algn="l"/>
            <a:r>
              <a:rPr sz="1200" b="0" i="0">
                <a:solidFill>
                  <a:srgbClr val="E8E8E8"/>
                </a:solidFill>
              </a:rPr>
              <a:t>• Comprehensive inspections to identify active infestations or risk factors</a:t>
            </a:r>
          </a:p>
          <a:p>
            <a:pPr algn="l"/>
            <a:r>
              <a:rPr sz="1200" b="0" i="0">
                <a:solidFill>
                  <a:srgbClr val="E8E8E8"/>
                </a:solidFill>
              </a:rPr>
              <a:t>• Advanced solutions: soil treatments, baiting systems, targeted eradication</a:t>
            </a:r>
          </a:p>
          <a:p>
            <a:pPr algn="l"/>
            <a:r>
              <a:rPr sz="1200" b="0" i="0">
                <a:solidFill>
                  <a:srgbClr val="E8E8E8"/>
                </a:solidFill>
              </a:rPr>
              <a:t>• Preventive measures to protect structures from future termite damage</a:t>
            </a:r>
          </a:p>
        </p:txBody>
      </p:sp>
      <p:sp>
        <p:nvSpPr>
          <p:cNvPr id="10" name="Rectangle 9"/>
          <p:cNvSpPr/>
          <p:nvPr/>
        </p:nvSpPr>
        <p:spPr>
          <a:xfrm>
            <a:off x="365760" y="3840480"/>
            <a:ext cx="5486400" cy="2240280"/>
          </a:xfrm>
          <a:prstGeom prst="rect">
            <a:avLst/>
          </a:prstGeom>
          <a:solidFill>
            <a:srgbClr val="1A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977640"/>
            <a:ext cx="5120640" cy="1965960"/>
          </a:xfrm>
          <a:prstGeom prst="rect">
            <a:avLst/>
          </a:prstGeom>
          <a:noFill/>
        </p:spPr>
        <p:txBody>
          <a:bodyPr wrap="square">
            <a:spAutoFit/>
          </a:bodyPr>
          <a:lstStyle/>
          <a:p>
            <a:r>
              <a:rPr sz="1400" b="1">
                <a:solidFill>
                  <a:srgbClr val="BB1A1A"/>
                </a:solidFill>
              </a:rPr>
              <a:t>3. Residential Pest Solutions</a:t>
            </a:r>
          </a:p>
          <a:p>
            <a:pPr algn="l"/>
            <a:r>
              <a:rPr sz="1200" b="0" i="0">
                <a:solidFill>
                  <a:srgbClr val="E8E8E8"/>
                </a:solidFill>
              </a:rPr>
              <a:t>• Customized service plans for houses, apartments, and condominiums</a:t>
            </a:r>
          </a:p>
          <a:p>
            <a:pPr algn="l"/>
            <a:r>
              <a:rPr sz="1200" b="0" i="0">
                <a:solidFill>
                  <a:srgbClr val="E8E8E8"/>
                </a:solidFill>
              </a:rPr>
              <a:t>• Safe, family-friendly applications — ongoing maintenance programs</a:t>
            </a:r>
          </a:p>
        </p:txBody>
      </p:sp>
      <p:sp>
        <p:nvSpPr>
          <p:cNvPr id="12" name="Rectangle 11"/>
          <p:cNvSpPr/>
          <p:nvPr/>
        </p:nvSpPr>
        <p:spPr>
          <a:xfrm>
            <a:off x="6217920" y="3840480"/>
            <a:ext cx="5486400" cy="2240280"/>
          </a:xfrm>
          <a:prstGeom prst="rect">
            <a:avLst/>
          </a:prstGeom>
          <a:solidFill>
            <a:srgbClr val="1A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977640"/>
            <a:ext cx="5120640" cy="1965960"/>
          </a:xfrm>
          <a:prstGeom prst="rect">
            <a:avLst/>
          </a:prstGeom>
          <a:noFill/>
        </p:spPr>
        <p:txBody>
          <a:bodyPr wrap="square">
            <a:spAutoFit/>
          </a:bodyPr>
          <a:lstStyle/>
          <a:p>
            <a:r>
              <a:rPr sz="1400" b="1">
                <a:solidFill>
                  <a:srgbClr val="BB1A1A"/>
                </a:solidFill>
              </a:rPr>
              <a:t>4. Commercial Pest Management</a:t>
            </a:r>
          </a:p>
          <a:p>
            <a:pPr algn="l"/>
            <a:r>
              <a:rPr sz="1200" b="0" i="0">
                <a:solidFill>
                  <a:srgbClr val="E8E8E8"/>
                </a:solidFill>
              </a:rPr>
              <a:t>• Integrated Pest Management (IPM) for offices, restaurants, warehouses, schools</a:t>
            </a:r>
          </a:p>
          <a:p>
            <a:pPr algn="l"/>
            <a:r>
              <a:rPr sz="1200" b="0" i="0">
                <a:solidFill>
                  <a:srgbClr val="E8E8E8"/>
                </a:solidFill>
              </a:rPr>
              <a:t>• Scheduled service contracts for health, safety, and compliance standards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E"/>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B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9144000" cy="914400"/>
          </a:xfrm>
          <a:prstGeom prst="rect">
            <a:avLst/>
          </a:prstGeom>
          <a:noFill/>
        </p:spPr>
        <p:txBody>
          <a:bodyPr wrap="square">
            <a:spAutoFit/>
          </a:bodyPr>
          <a:lstStyle/>
          <a:p>
            <a:pPr algn="l"/>
            <a:r>
              <a:rPr sz="3600" b="1" i="0">
                <a:solidFill>
                  <a:srgbClr val="FFFFFF"/>
                </a:solidFill>
              </a:rPr>
              <a:t>Why Choose Us</a:t>
            </a:r>
          </a:p>
        </p:txBody>
      </p:sp>
      <p:sp>
        <p:nvSpPr>
          <p:cNvPr id="4" name="Rectangle 3"/>
          <p:cNvSpPr/>
          <p:nvPr/>
        </p:nvSpPr>
        <p:spPr>
          <a:xfrm>
            <a:off x="0" y="6217920"/>
            <a:ext cx="12188952" cy="640080"/>
          </a:xfrm>
          <a:prstGeom prst="rect">
            <a:avLst/>
          </a:prstGeom>
          <a:solidFill>
            <a:srgbClr val="8B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0972800" cy="365760"/>
          </a:xfrm>
          <a:prstGeom prst="rect">
            <a:avLst/>
          </a:prstGeom>
          <a:noFill/>
        </p:spPr>
        <p:txBody>
          <a:bodyPr wrap="square">
            <a:spAutoFit/>
          </a:bodyPr>
          <a:lstStyle/>
          <a:p>
            <a:pPr algn="ctr"/>
            <a:r>
              <a:rPr sz="1100" b="0" i="0">
                <a:solidFill>
                  <a:srgbClr val="E8E8E8"/>
                </a:solidFill>
              </a:rPr>
              <a:t>pest-ex | www.pest-ex.com.ph</a:t>
            </a:r>
          </a:p>
        </p:txBody>
      </p:sp>
      <p:sp>
        <p:nvSpPr>
          <p:cNvPr id="6" name="Rectangle 5"/>
          <p:cNvSpPr/>
          <p:nvPr/>
        </p:nvSpPr>
        <p:spPr>
          <a:xfrm>
            <a:off x="274320" y="1371600"/>
            <a:ext cx="3566160" cy="1920240"/>
          </a:xfrm>
          <a:prstGeom prst="rect">
            <a:avLst/>
          </a:prstGeom>
          <a:solidFill>
            <a:srgbClr val="1A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79" y="1463040"/>
            <a:ext cx="3291840" cy="1737360"/>
          </a:xfrm>
          <a:prstGeom prst="rect">
            <a:avLst/>
          </a:prstGeom>
          <a:noFill/>
        </p:spPr>
        <p:txBody>
          <a:bodyPr wrap="square">
            <a:spAutoFit/>
          </a:bodyPr>
          <a:lstStyle/>
          <a:p>
            <a:r>
              <a:rPr sz="1200" b="1">
                <a:solidFill>
                  <a:srgbClr val="BB1A1A"/>
                </a:solidFill>
              </a:rPr>
              <a:t>Proven Australian Standards</a:t>
            </a:r>
          </a:p>
          <a:p>
            <a:pPr algn="l"/>
            <a:r>
              <a:rPr sz="1100" b="0" i="0">
                <a:solidFill>
                  <a:srgbClr val="E8E8E8"/>
                </a:solidFill>
              </a:rPr>
              <a:t>16 years of structured, disciplined, performance-driven processes from Australia.</a:t>
            </a:r>
          </a:p>
        </p:txBody>
      </p:sp>
      <p:sp>
        <p:nvSpPr>
          <p:cNvPr id="8" name="Rectangle 7"/>
          <p:cNvSpPr/>
          <p:nvPr/>
        </p:nvSpPr>
        <p:spPr>
          <a:xfrm>
            <a:off x="4023360" y="1371600"/>
            <a:ext cx="3566160" cy="1920240"/>
          </a:xfrm>
          <a:prstGeom prst="rect">
            <a:avLst/>
          </a:prstGeom>
          <a:solidFill>
            <a:srgbClr val="1A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60520" y="1463040"/>
            <a:ext cx="3291840" cy="1737360"/>
          </a:xfrm>
          <a:prstGeom prst="rect">
            <a:avLst/>
          </a:prstGeom>
          <a:noFill/>
        </p:spPr>
        <p:txBody>
          <a:bodyPr wrap="square">
            <a:spAutoFit/>
          </a:bodyPr>
          <a:lstStyle/>
          <a:p>
            <a:r>
              <a:rPr sz="1200" b="1">
                <a:solidFill>
                  <a:srgbClr val="BB1A1A"/>
                </a:solidFill>
              </a:rPr>
              <a:t>Not a Franchise</a:t>
            </a:r>
          </a:p>
          <a:p>
            <a:pPr algn="l"/>
            <a:r>
              <a:rPr sz="1100" b="0" i="0">
                <a:solidFill>
                  <a:srgbClr val="E8E8E8"/>
                </a:solidFill>
              </a:rPr>
              <a:t>Privately owned — complete control over training, methods, and service quality.</a:t>
            </a:r>
          </a:p>
        </p:txBody>
      </p:sp>
      <p:sp>
        <p:nvSpPr>
          <p:cNvPr id="10" name="Rectangle 9"/>
          <p:cNvSpPr/>
          <p:nvPr/>
        </p:nvSpPr>
        <p:spPr>
          <a:xfrm>
            <a:off x="7772400" y="1371600"/>
            <a:ext cx="4114800" cy="1920240"/>
          </a:xfrm>
          <a:prstGeom prst="rect">
            <a:avLst/>
          </a:prstGeom>
          <a:solidFill>
            <a:srgbClr val="1A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09560" y="1463040"/>
            <a:ext cx="3840480" cy="1737360"/>
          </a:xfrm>
          <a:prstGeom prst="rect">
            <a:avLst/>
          </a:prstGeom>
          <a:noFill/>
        </p:spPr>
        <p:txBody>
          <a:bodyPr wrap="square">
            <a:spAutoFit/>
          </a:bodyPr>
          <a:lstStyle/>
          <a:p>
            <a:r>
              <a:rPr sz="1200" b="1">
                <a:solidFill>
                  <a:srgbClr val="BB1A1A"/>
                </a:solidFill>
              </a:rPr>
              <a:t>Risk Management</a:t>
            </a:r>
          </a:p>
          <a:p>
            <a:pPr algn="l"/>
            <a:r>
              <a:rPr sz="1100" b="0" i="0">
                <a:solidFill>
                  <a:srgbClr val="E8E8E8"/>
                </a:solidFill>
              </a:rPr>
              <a:t>We identify risk, prevent recurrence, and protect property value and health.</a:t>
            </a:r>
          </a:p>
        </p:txBody>
      </p:sp>
      <p:sp>
        <p:nvSpPr>
          <p:cNvPr id="12" name="Rectangle 11"/>
          <p:cNvSpPr/>
          <p:nvPr/>
        </p:nvSpPr>
        <p:spPr>
          <a:xfrm>
            <a:off x="274320" y="3474720"/>
            <a:ext cx="3566160" cy="1920240"/>
          </a:xfrm>
          <a:prstGeom prst="rect">
            <a:avLst/>
          </a:prstGeom>
          <a:solidFill>
            <a:srgbClr val="1A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79" y="3566160"/>
            <a:ext cx="3291840" cy="1737360"/>
          </a:xfrm>
          <a:prstGeom prst="rect">
            <a:avLst/>
          </a:prstGeom>
          <a:noFill/>
        </p:spPr>
        <p:txBody>
          <a:bodyPr wrap="square">
            <a:spAutoFit/>
          </a:bodyPr>
          <a:lstStyle/>
          <a:p>
            <a:r>
              <a:rPr sz="1200" b="1">
                <a:solidFill>
                  <a:srgbClr val="BB1A1A"/>
                </a:solidFill>
              </a:rPr>
              <a:t>Professionally Trained Team</a:t>
            </a:r>
          </a:p>
          <a:p>
            <a:pPr algn="l"/>
            <a:r>
              <a:rPr sz="1100" b="0" i="0">
                <a:solidFill>
                  <a:srgbClr val="E8E8E8"/>
                </a:solidFill>
              </a:rPr>
              <a:t>Technicians trained to industry best practices and continuously upskilled.</a:t>
            </a:r>
          </a:p>
        </p:txBody>
      </p:sp>
      <p:sp>
        <p:nvSpPr>
          <p:cNvPr id="14" name="Rectangle 13"/>
          <p:cNvSpPr/>
          <p:nvPr/>
        </p:nvSpPr>
        <p:spPr>
          <a:xfrm>
            <a:off x="4023360" y="3474720"/>
            <a:ext cx="3566160" cy="1920240"/>
          </a:xfrm>
          <a:prstGeom prst="rect">
            <a:avLst/>
          </a:prstGeom>
          <a:solidFill>
            <a:srgbClr val="1A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60520" y="3566160"/>
            <a:ext cx="3291840" cy="1737360"/>
          </a:xfrm>
          <a:prstGeom prst="rect">
            <a:avLst/>
          </a:prstGeom>
          <a:noFill/>
        </p:spPr>
        <p:txBody>
          <a:bodyPr wrap="square">
            <a:spAutoFit/>
          </a:bodyPr>
          <a:lstStyle/>
          <a:p>
            <a:r>
              <a:rPr sz="1200" b="1">
                <a:solidFill>
                  <a:srgbClr val="BB1A1A"/>
                </a:solidFill>
              </a:rPr>
              <a:t>Safe &amp; Transparent Solutions</a:t>
            </a:r>
          </a:p>
          <a:p>
            <a:pPr algn="l"/>
            <a:r>
              <a:rPr sz="1100" b="0" i="0">
                <a:solidFill>
                  <a:srgbClr val="E8E8E8"/>
                </a:solidFill>
              </a:rPr>
              <a:t>High-quality, approved products. Honest recommendations for your property only.</a:t>
            </a:r>
          </a:p>
        </p:txBody>
      </p:sp>
      <p:sp>
        <p:nvSpPr>
          <p:cNvPr id="16" name="Rectangle 15"/>
          <p:cNvSpPr/>
          <p:nvPr/>
        </p:nvSpPr>
        <p:spPr>
          <a:xfrm>
            <a:off x="7772400" y="3474720"/>
            <a:ext cx="4114800" cy="1920240"/>
          </a:xfrm>
          <a:prstGeom prst="rect">
            <a:avLst/>
          </a:prstGeom>
          <a:solidFill>
            <a:srgbClr val="1A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9560" y="3566160"/>
            <a:ext cx="3840480" cy="1737360"/>
          </a:xfrm>
          <a:prstGeom prst="rect">
            <a:avLst/>
          </a:prstGeom>
          <a:noFill/>
        </p:spPr>
        <p:txBody>
          <a:bodyPr wrap="square">
            <a:spAutoFit/>
          </a:bodyPr>
          <a:lstStyle/>
          <a:p>
            <a:r>
              <a:rPr sz="1200" b="1">
                <a:solidFill>
                  <a:srgbClr val="BB1A1A"/>
                </a:solidFill>
              </a:rPr>
              <a:t>Residential &amp; Commercial</a:t>
            </a:r>
          </a:p>
          <a:p>
            <a:pPr algn="l"/>
            <a:r>
              <a:rPr sz="1100" b="0" i="0">
                <a:solidFill>
                  <a:srgbClr val="E8E8E8"/>
                </a:solidFill>
              </a:rPr>
              <a:t>Tailored programs for homes, offices, restaurants, and facilities.</a:t>
            </a:r>
          </a:p>
        </p:txBody>
      </p:sp>
      <p:sp>
        <p:nvSpPr>
          <p:cNvPr id="18" name="Rectangle 17"/>
          <p:cNvSpPr/>
          <p:nvPr/>
        </p:nvSpPr>
        <p:spPr>
          <a:xfrm>
            <a:off x="274320" y="5577840"/>
            <a:ext cx="11612880" cy="548640"/>
          </a:xfrm>
          <a:prstGeom prst="rect">
            <a:avLst/>
          </a:prstGeom>
          <a:solidFill>
            <a:srgbClr val="1A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79" y="5669279"/>
            <a:ext cx="11338559" cy="365759"/>
          </a:xfrm>
          <a:prstGeom prst="rect">
            <a:avLst/>
          </a:prstGeom>
          <a:noFill/>
        </p:spPr>
        <p:txBody>
          <a:bodyPr wrap="square">
            <a:spAutoFit/>
          </a:bodyPr>
          <a:lstStyle/>
          <a:p>
            <a:r>
              <a:rPr sz="1200" b="1">
                <a:solidFill>
                  <a:srgbClr val="BB1A1A"/>
                </a:solidFill>
              </a:rPr>
              <a:t>Trusted Across Metro Manila — Serving Manila, Makati, QC, Alabang, Muntinlupa, Tagaytay, Cavite and beyond.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E"/>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B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914400"/>
          </a:xfrm>
          <a:prstGeom prst="rect">
            <a:avLst/>
          </a:prstGeom>
          <a:noFill/>
        </p:spPr>
        <p:txBody>
          <a:bodyPr wrap="square">
            <a:spAutoFit/>
          </a:bodyPr>
          <a:lstStyle/>
          <a:p>
            <a:pPr algn="l"/>
            <a:r>
              <a:rPr sz="3600" b="1" i="0">
                <a:solidFill>
                  <a:srgbClr val="FFFFFF"/>
                </a:solidFill>
              </a:rPr>
              <a:t>Our Mission &amp; Vision</a:t>
            </a:r>
          </a:p>
        </p:txBody>
      </p:sp>
      <p:sp>
        <p:nvSpPr>
          <p:cNvPr id="4" name="Rectangle 3"/>
          <p:cNvSpPr/>
          <p:nvPr/>
        </p:nvSpPr>
        <p:spPr>
          <a:xfrm>
            <a:off x="0" y="6217920"/>
            <a:ext cx="12188952" cy="640080"/>
          </a:xfrm>
          <a:prstGeom prst="rect">
            <a:avLst/>
          </a:prstGeom>
          <a:solidFill>
            <a:srgbClr val="8B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0972800" cy="365760"/>
          </a:xfrm>
          <a:prstGeom prst="rect">
            <a:avLst/>
          </a:prstGeom>
          <a:noFill/>
        </p:spPr>
        <p:txBody>
          <a:bodyPr wrap="square">
            <a:spAutoFit/>
          </a:bodyPr>
          <a:lstStyle/>
          <a:p>
            <a:pPr algn="ctr"/>
            <a:r>
              <a:rPr sz="1100" b="0" i="0">
                <a:solidFill>
                  <a:srgbClr val="E8E8E8"/>
                </a:solidFill>
              </a:rPr>
              <a:t>pest-ex | www.pest-ex.com.ph</a:t>
            </a:r>
          </a:p>
        </p:txBody>
      </p:sp>
      <p:sp>
        <p:nvSpPr>
          <p:cNvPr id="6" name="Rectangle 5"/>
          <p:cNvSpPr/>
          <p:nvPr/>
        </p:nvSpPr>
        <p:spPr>
          <a:xfrm>
            <a:off x="365760" y="1463040"/>
            <a:ext cx="5394960" cy="2560320"/>
          </a:xfrm>
          <a:prstGeom prst="rect">
            <a:avLst/>
          </a:prstGeom>
          <a:solidFill>
            <a:srgbClr val="1A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00200"/>
            <a:ext cx="4846320" cy="457200"/>
          </a:xfrm>
          <a:prstGeom prst="rect">
            <a:avLst/>
          </a:prstGeom>
          <a:noFill/>
        </p:spPr>
        <p:txBody>
          <a:bodyPr wrap="square">
            <a:spAutoFit/>
          </a:bodyPr>
          <a:lstStyle/>
          <a:p>
            <a:pPr algn="l"/>
            <a:r>
              <a:rPr sz="2000" b="1" i="0">
                <a:solidFill>
                  <a:srgbClr val="BB1A1A"/>
                </a:solidFill>
              </a:rPr>
              <a:t>Our Mission</a:t>
            </a:r>
          </a:p>
        </p:txBody>
      </p:sp>
      <p:sp>
        <p:nvSpPr>
          <p:cNvPr id="8" name="TextBox 7"/>
          <p:cNvSpPr txBox="1"/>
          <p:nvPr/>
        </p:nvSpPr>
        <p:spPr>
          <a:xfrm>
            <a:off x="548640" y="2103120"/>
            <a:ext cx="5029200" cy="1828800"/>
          </a:xfrm>
          <a:prstGeom prst="rect">
            <a:avLst/>
          </a:prstGeom>
          <a:noFill/>
        </p:spPr>
        <p:txBody>
          <a:bodyPr wrap="square">
            <a:spAutoFit/>
          </a:bodyPr>
          <a:lstStyle/>
          <a:p>
            <a:r>
              <a:rPr sz="1300">
                <a:solidFill>
                  <a:srgbClr val="E8E8E8"/>
                </a:solidFill>
              </a:rPr>
              <a:t>To protect people, property, and reputation by delivering pest management solutions that are precise, responsible, and built for long-term results. Pest-Ex Philippines exists to remove risk, not just pests — through disciplined processes, skilled professionals, and transparent service.</a:t>
            </a:r>
          </a:p>
        </p:txBody>
      </p:sp>
      <p:sp>
        <p:nvSpPr>
          <p:cNvPr id="9" name="Rectangle 8"/>
          <p:cNvSpPr/>
          <p:nvPr/>
        </p:nvSpPr>
        <p:spPr>
          <a:xfrm>
            <a:off x="6309360" y="1463040"/>
            <a:ext cx="5394960" cy="2560320"/>
          </a:xfrm>
          <a:prstGeom prst="rect">
            <a:avLst/>
          </a:prstGeom>
          <a:solidFill>
            <a:srgbClr val="1A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600200"/>
            <a:ext cx="4846320" cy="457200"/>
          </a:xfrm>
          <a:prstGeom prst="rect">
            <a:avLst/>
          </a:prstGeom>
          <a:noFill/>
        </p:spPr>
        <p:txBody>
          <a:bodyPr wrap="square">
            <a:spAutoFit/>
          </a:bodyPr>
          <a:lstStyle/>
          <a:p>
            <a:pPr algn="l"/>
            <a:r>
              <a:rPr sz="2000" b="1" i="0">
                <a:solidFill>
                  <a:srgbClr val="BB1A1A"/>
                </a:solidFill>
              </a:rPr>
              <a:t>Our Vision</a:t>
            </a:r>
          </a:p>
        </p:txBody>
      </p:sp>
      <p:sp>
        <p:nvSpPr>
          <p:cNvPr id="11" name="TextBox 10"/>
          <p:cNvSpPr txBox="1"/>
          <p:nvPr/>
        </p:nvSpPr>
        <p:spPr>
          <a:xfrm>
            <a:off x="6492240" y="2103120"/>
            <a:ext cx="5029200" cy="1828800"/>
          </a:xfrm>
          <a:prstGeom prst="rect">
            <a:avLst/>
          </a:prstGeom>
          <a:noFill/>
        </p:spPr>
        <p:txBody>
          <a:bodyPr wrap="square">
            <a:spAutoFit/>
          </a:bodyPr>
          <a:lstStyle/>
          <a:p>
            <a:r>
              <a:rPr sz="1300">
                <a:solidFill>
                  <a:srgbClr val="E8E8E8"/>
                </a:solidFill>
              </a:rPr>
              <a:t>To redefine pest control in the Philippines as a professional risk-management service — where prevention is proactive, standards are uncompromising, and service quality is measurable, consistent, and trusted nationwide.</a:t>
            </a:r>
          </a:p>
        </p:txBody>
      </p:sp>
      <p:sp>
        <p:nvSpPr>
          <p:cNvPr id="12" name="Rectangle 11"/>
          <p:cNvSpPr/>
          <p:nvPr/>
        </p:nvSpPr>
        <p:spPr>
          <a:xfrm>
            <a:off x="365760" y="4297680"/>
            <a:ext cx="11338560" cy="1645920"/>
          </a:xfrm>
          <a:prstGeom prst="rect">
            <a:avLst/>
          </a:prstGeom>
          <a:solidFill>
            <a:srgbClr val="B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434840"/>
            <a:ext cx="10972800" cy="457200"/>
          </a:xfrm>
          <a:prstGeom prst="rect">
            <a:avLst/>
          </a:prstGeom>
          <a:noFill/>
        </p:spPr>
        <p:txBody>
          <a:bodyPr wrap="square">
            <a:spAutoFit/>
          </a:bodyPr>
          <a:lstStyle/>
          <a:p>
            <a:pPr algn="ctr"/>
            <a:r>
              <a:rPr sz="1600" b="1" i="0">
                <a:solidFill>
                  <a:srgbClr val="FFFFFF"/>
                </a:solidFill>
              </a:rPr>
              <a:t>65% of new business comes from word-of-mouth referrals.</a:t>
            </a:r>
          </a:p>
        </p:txBody>
      </p:sp>
      <p:sp>
        <p:nvSpPr>
          <p:cNvPr id="14" name="TextBox 13"/>
          <p:cNvSpPr txBox="1"/>
          <p:nvPr/>
        </p:nvSpPr>
        <p:spPr>
          <a:xfrm>
            <a:off x="640080" y="4937760"/>
            <a:ext cx="10972800" cy="457200"/>
          </a:xfrm>
          <a:prstGeom prst="rect">
            <a:avLst/>
          </a:prstGeom>
          <a:noFill/>
        </p:spPr>
        <p:txBody>
          <a:bodyPr wrap="square">
            <a:spAutoFit/>
          </a:bodyPr>
          <a:lstStyle/>
          <a:p>
            <a:pPr algn="ctr"/>
            <a:r>
              <a:rPr sz="1400" b="0" i="0">
                <a:solidFill>
                  <a:srgbClr val="FFFFFF"/>
                </a:solidFill>
              </a:rPr>
              <a:t>We use high-quality, approved products — safe for your family, children, and pets.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2E"/>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B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9144000" cy="914400"/>
          </a:xfrm>
          <a:prstGeom prst="rect">
            <a:avLst/>
          </a:prstGeom>
          <a:noFill/>
        </p:spPr>
        <p:txBody>
          <a:bodyPr wrap="square">
            <a:spAutoFit/>
          </a:bodyPr>
          <a:lstStyle/>
          <a:p>
            <a:pPr algn="l"/>
            <a:r>
              <a:rPr sz="3600" b="1" i="0">
                <a:solidFill>
                  <a:srgbClr val="FFFFFF"/>
                </a:solidFill>
              </a:rPr>
              <a:t>Our Process</a:t>
            </a:r>
          </a:p>
        </p:txBody>
      </p:sp>
      <p:sp>
        <p:nvSpPr>
          <p:cNvPr id="4" name="Rectangle 3"/>
          <p:cNvSpPr/>
          <p:nvPr/>
        </p:nvSpPr>
        <p:spPr>
          <a:xfrm>
            <a:off x="0" y="6217920"/>
            <a:ext cx="12188952" cy="640080"/>
          </a:xfrm>
          <a:prstGeom prst="rect">
            <a:avLst/>
          </a:prstGeom>
          <a:solidFill>
            <a:srgbClr val="8B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0972800" cy="365760"/>
          </a:xfrm>
          <a:prstGeom prst="rect">
            <a:avLst/>
          </a:prstGeom>
          <a:noFill/>
        </p:spPr>
        <p:txBody>
          <a:bodyPr wrap="square">
            <a:spAutoFit/>
          </a:bodyPr>
          <a:lstStyle/>
          <a:p>
            <a:pPr algn="ctr"/>
            <a:r>
              <a:rPr sz="1100" b="0" i="0">
                <a:solidFill>
                  <a:srgbClr val="E8E8E8"/>
                </a:solidFill>
              </a:rPr>
              <a:t>pest-ex | www.pest-ex.com.ph</a:t>
            </a:r>
          </a:p>
        </p:txBody>
      </p:sp>
      <p:sp>
        <p:nvSpPr>
          <p:cNvPr id="6" name="Rectangle 5"/>
          <p:cNvSpPr/>
          <p:nvPr/>
        </p:nvSpPr>
        <p:spPr>
          <a:xfrm>
            <a:off x="274320" y="1463040"/>
            <a:ext cx="3566160" cy="2103120"/>
          </a:xfrm>
          <a:prstGeom prst="rect">
            <a:avLst/>
          </a:prstGeom>
          <a:solidFill>
            <a:srgbClr val="1A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79" y="1554480"/>
            <a:ext cx="731520" cy="457200"/>
          </a:xfrm>
          <a:prstGeom prst="rect">
            <a:avLst/>
          </a:prstGeom>
          <a:noFill/>
        </p:spPr>
        <p:txBody>
          <a:bodyPr wrap="square">
            <a:spAutoFit/>
          </a:bodyPr>
          <a:lstStyle/>
          <a:p>
            <a:pPr algn="l"/>
            <a:r>
              <a:rPr sz="2200" b="1" i="0">
                <a:solidFill>
                  <a:srgbClr val="BB1A1A"/>
                </a:solidFill>
              </a:rPr>
              <a:t>01</a:t>
            </a:r>
          </a:p>
        </p:txBody>
      </p:sp>
      <p:sp>
        <p:nvSpPr>
          <p:cNvPr id="8" name="TextBox 7"/>
          <p:cNvSpPr txBox="1"/>
          <p:nvPr/>
        </p:nvSpPr>
        <p:spPr>
          <a:xfrm>
            <a:off x="411479" y="1965960"/>
            <a:ext cx="3200400" cy="457200"/>
          </a:xfrm>
          <a:prstGeom prst="rect">
            <a:avLst/>
          </a:prstGeom>
          <a:noFill/>
        </p:spPr>
        <p:txBody>
          <a:bodyPr wrap="square">
            <a:spAutoFit/>
          </a:bodyPr>
          <a:lstStyle/>
          <a:p>
            <a:pPr algn="l"/>
            <a:r>
              <a:rPr sz="1300" b="1" i="0">
                <a:solidFill>
                  <a:srgbClr val="FFFFFF"/>
                </a:solidFill>
              </a:rPr>
              <a:t>Client Enquiry</a:t>
            </a:r>
          </a:p>
        </p:txBody>
      </p:sp>
      <p:sp>
        <p:nvSpPr>
          <p:cNvPr id="9" name="TextBox 8"/>
          <p:cNvSpPr txBox="1"/>
          <p:nvPr/>
        </p:nvSpPr>
        <p:spPr>
          <a:xfrm>
            <a:off x="411479" y="2377440"/>
            <a:ext cx="3291840" cy="1005840"/>
          </a:xfrm>
          <a:prstGeom prst="rect">
            <a:avLst/>
          </a:prstGeom>
          <a:noFill/>
        </p:spPr>
        <p:txBody>
          <a:bodyPr wrap="square">
            <a:spAutoFit/>
          </a:bodyPr>
          <a:lstStyle/>
          <a:p>
            <a:r>
              <a:rPr sz="1100">
                <a:solidFill>
                  <a:srgbClr val="E8E8E8"/>
                </a:solidFill>
              </a:rPr>
              <a:t>Initial contact and identification of pest concern</a:t>
            </a:r>
          </a:p>
        </p:txBody>
      </p:sp>
      <p:sp>
        <p:nvSpPr>
          <p:cNvPr id="10" name="Rectangle 9"/>
          <p:cNvSpPr/>
          <p:nvPr/>
        </p:nvSpPr>
        <p:spPr>
          <a:xfrm>
            <a:off x="4251959" y="1463040"/>
            <a:ext cx="3566160" cy="2103120"/>
          </a:xfrm>
          <a:prstGeom prst="rect">
            <a:avLst/>
          </a:prstGeom>
          <a:solidFill>
            <a:srgbClr val="1A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0" y="1554480"/>
            <a:ext cx="731520" cy="457200"/>
          </a:xfrm>
          <a:prstGeom prst="rect">
            <a:avLst/>
          </a:prstGeom>
          <a:noFill/>
        </p:spPr>
        <p:txBody>
          <a:bodyPr wrap="square">
            <a:spAutoFit/>
          </a:bodyPr>
          <a:lstStyle/>
          <a:p>
            <a:pPr algn="l"/>
            <a:r>
              <a:rPr sz="2200" b="1" i="0">
                <a:solidFill>
                  <a:srgbClr val="BB1A1A"/>
                </a:solidFill>
              </a:rPr>
              <a:t>02</a:t>
            </a:r>
          </a:p>
        </p:txBody>
      </p:sp>
      <p:sp>
        <p:nvSpPr>
          <p:cNvPr id="12" name="TextBox 11"/>
          <p:cNvSpPr txBox="1"/>
          <p:nvPr/>
        </p:nvSpPr>
        <p:spPr>
          <a:xfrm>
            <a:off x="4389120" y="1965960"/>
            <a:ext cx="3200400" cy="457200"/>
          </a:xfrm>
          <a:prstGeom prst="rect">
            <a:avLst/>
          </a:prstGeom>
          <a:noFill/>
        </p:spPr>
        <p:txBody>
          <a:bodyPr wrap="square">
            <a:spAutoFit/>
          </a:bodyPr>
          <a:lstStyle/>
          <a:p>
            <a:pPr algn="l"/>
            <a:r>
              <a:rPr sz="1300" b="1" i="0">
                <a:solidFill>
                  <a:srgbClr val="FFFFFF"/>
                </a:solidFill>
              </a:rPr>
              <a:t>Consultation &amp; Inspection</a:t>
            </a:r>
          </a:p>
        </p:txBody>
      </p:sp>
      <p:sp>
        <p:nvSpPr>
          <p:cNvPr id="13" name="TextBox 12"/>
          <p:cNvSpPr txBox="1"/>
          <p:nvPr/>
        </p:nvSpPr>
        <p:spPr>
          <a:xfrm>
            <a:off x="4389120" y="2377440"/>
            <a:ext cx="3291840" cy="1005840"/>
          </a:xfrm>
          <a:prstGeom prst="rect">
            <a:avLst/>
          </a:prstGeom>
          <a:noFill/>
        </p:spPr>
        <p:txBody>
          <a:bodyPr wrap="square">
            <a:spAutoFit/>
          </a:bodyPr>
          <a:lstStyle/>
          <a:p>
            <a:r>
              <a:rPr sz="1100">
                <a:solidFill>
                  <a:srgbClr val="E8E8E8"/>
                </a:solidFill>
              </a:rPr>
              <a:t>Site assessment — interior &amp; exterior. Identify species, entry points, risk factors</a:t>
            </a:r>
          </a:p>
        </p:txBody>
      </p:sp>
      <p:sp>
        <p:nvSpPr>
          <p:cNvPr id="14" name="Rectangle 13"/>
          <p:cNvSpPr/>
          <p:nvPr/>
        </p:nvSpPr>
        <p:spPr>
          <a:xfrm>
            <a:off x="8229600" y="1463040"/>
            <a:ext cx="3566160" cy="2103120"/>
          </a:xfrm>
          <a:prstGeom prst="rect">
            <a:avLst/>
          </a:prstGeom>
          <a:solidFill>
            <a:srgbClr val="1A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6760" y="1554480"/>
            <a:ext cx="731520" cy="457200"/>
          </a:xfrm>
          <a:prstGeom prst="rect">
            <a:avLst/>
          </a:prstGeom>
          <a:noFill/>
        </p:spPr>
        <p:txBody>
          <a:bodyPr wrap="square">
            <a:spAutoFit/>
          </a:bodyPr>
          <a:lstStyle/>
          <a:p>
            <a:pPr algn="l"/>
            <a:r>
              <a:rPr sz="2200" b="1" i="0">
                <a:solidFill>
                  <a:srgbClr val="BB1A1A"/>
                </a:solidFill>
              </a:rPr>
              <a:t>03</a:t>
            </a:r>
          </a:p>
        </p:txBody>
      </p:sp>
      <p:sp>
        <p:nvSpPr>
          <p:cNvPr id="16" name="TextBox 15"/>
          <p:cNvSpPr txBox="1"/>
          <p:nvPr/>
        </p:nvSpPr>
        <p:spPr>
          <a:xfrm>
            <a:off x="8366760" y="1965960"/>
            <a:ext cx="3200400" cy="457200"/>
          </a:xfrm>
          <a:prstGeom prst="rect">
            <a:avLst/>
          </a:prstGeom>
          <a:noFill/>
        </p:spPr>
        <p:txBody>
          <a:bodyPr wrap="square">
            <a:spAutoFit/>
          </a:bodyPr>
          <a:lstStyle/>
          <a:p>
            <a:pPr algn="l"/>
            <a:r>
              <a:rPr sz="1300" b="1" i="0">
                <a:solidFill>
                  <a:srgbClr val="FFFFFF"/>
                </a:solidFill>
              </a:rPr>
              <a:t>Tailored Treatment Plan</a:t>
            </a:r>
          </a:p>
        </p:txBody>
      </p:sp>
      <p:sp>
        <p:nvSpPr>
          <p:cNvPr id="17" name="TextBox 16"/>
          <p:cNvSpPr txBox="1"/>
          <p:nvPr/>
        </p:nvSpPr>
        <p:spPr>
          <a:xfrm>
            <a:off x="8366760" y="2377440"/>
            <a:ext cx="3291840" cy="1005840"/>
          </a:xfrm>
          <a:prstGeom prst="rect">
            <a:avLst/>
          </a:prstGeom>
          <a:noFill/>
        </p:spPr>
        <p:txBody>
          <a:bodyPr wrap="square">
            <a:spAutoFit/>
          </a:bodyPr>
          <a:lstStyle/>
          <a:p>
            <a:r>
              <a:rPr sz="1100">
                <a:solidFill>
                  <a:srgbClr val="E8E8E8"/>
                </a:solidFill>
              </a:rPr>
              <a:t>Method selection, product choice (safe &amp; approved), treatment scope &amp; frequency</a:t>
            </a:r>
          </a:p>
        </p:txBody>
      </p:sp>
      <p:sp>
        <p:nvSpPr>
          <p:cNvPr id="18" name="Rectangle 17"/>
          <p:cNvSpPr/>
          <p:nvPr/>
        </p:nvSpPr>
        <p:spPr>
          <a:xfrm>
            <a:off x="274320" y="3794760"/>
            <a:ext cx="3566160" cy="2103120"/>
          </a:xfrm>
          <a:prstGeom prst="rect">
            <a:avLst/>
          </a:prstGeom>
          <a:solidFill>
            <a:srgbClr val="1A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79" y="3886200"/>
            <a:ext cx="731520" cy="457200"/>
          </a:xfrm>
          <a:prstGeom prst="rect">
            <a:avLst/>
          </a:prstGeom>
          <a:noFill/>
        </p:spPr>
        <p:txBody>
          <a:bodyPr wrap="square">
            <a:spAutoFit/>
          </a:bodyPr>
          <a:lstStyle/>
          <a:p>
            <a:pPr algn="l"/>
            <a:r>
              <a:rPr sz="2200" b="1" i="0">
                <a:solidFill>
                  <a:srgbClr val="BB1A1A"/>
                </a:solidFill>
              </a:rPr>
              <a:t>04</a:t>
            </a:r>
          </a:p>
        </p:txBody>
      </p:sp>
      <p:sp>
        <p:nvSpPr>
          <p:cNvPr id="20" name="TextBox 19"/>
          <p:cNvSpPr txBox="1"/>
          <p:nvPr/>
        </p:nvSpPr>
        <p:spPr>
          <a:xfrm>
            <a:off x="411479" y="4297680"/>
            <a:ext cx="3200400" cy="457200"/>
          </a:xfrm>
          <a:prstGeom prst="rect">
            <a:avLst/>
          </a:prstGeom>
          <a:noFill/>
        </p:spPr>
        <p:txBody>
          <a:bodyPr wrap="square">
            <a:spAutoFit/>
          </a:bodyPr>
          <a:lstStyle/>
          <a:p>
            <a:pPr algn="l"/>
            <a:r>
              <a:rPr sz="1300" b="1" i="0">
                <a:solidFill>
                  <a:srgbClr val="FFFFFF"/>
                </a:solidFill>
              </a:rPr>
              <a:t>Execution</a:t>
            </a:r>
          </a:p>
        </p:txBody>
      </p:sp>
      <p:sp>
        <p:nvSpPr>
          <p:cNvPr id="21" name="TextBox 20"/>
          <p:cNvSpPr txBox="1"/>
          <p:nvPr/>
        </p:nvSpPr>
        <p:spPr>
          <a:xfrm>
            <a:off x="411479" y="4709160"/>
            <a:ext cx="3291840" cy="1005840"/>
          </a:xfrm>
          <a:prstGeom prst="rect">
            <a:avLst/>
          </a:prstGeom>
          <a:noFill/>
        </p:spPr>
        <p:txBody>
          <a:bodyPr wrap="square">
            <a:spAutoFit/>
          </a:bodyPr>
          <a:lstStyle/>
          <a:p>
            <a:r>
              <a:rPr sz="1100">
                <a:solidFill>
                  <a:srgbClr val="E8E8E8"/>
                </a:solidFill>
              </a:rPr>
              <a:t>Targeted application by trained technicians. Minimal disruption, safety protocols in place</a:t>
            </a:r>
          </a:p>
        </p:txBody>
      </p:sp>
      <p:sp>
        <p:nvSpPr>
          <p:cNvPr id="22" name="Rectangle 21"/>
          <p:cNvSpPr/>
          <p:nvPr/>
        </p:nvSpPr>
        <p:spPr>
          <a:xfrm>
            <a:off x="4251959" y="3794760"/>
            <a:ext cx="3566160" cy="2103120"/>
          </a:xfrm>
          <a:prstGeom prst="rect">
            <a:avLst/>
          </a:prstGeom>
          <a:solidFill>
            <a:srgbClr val="1A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89120" y="3886200"/>
            <a:ext cx="731520" cy="457200"/>
          </a:xfrm>
          <a:prstGeom prst="rect">
            <a:avLst/>
          </a:prstGeom>
          <a:noFill/>
        </p:spPr>
        <p:txBody>
          <a:bodyPr wrap="square">
            <a:spAutoFit/>
          </a:bodyPr>
          <a:lstStyle/>
          <a:p>
            <a:pPr algn="l"/>
            <a:r>
              <a:rPr sz="2200" b="1" i="0">
                <a:solidFill>
                  <a:srgbClr val="BB1A1A"/>
                </a:solidFill>
              </a:rPr>
              <a:t>05</a:t>
            </a:r>
          </a:p>
        </p:txBody>
      </p:sp>
      <p:sp>
        <p:nvSpPr>
          <p:cNvPr id="24" name="TextBox 23"/>
          <p:cNvSpPr txBox="1"/>
          <p:nvPr/>
        </p:nvSpPr>
        <p:spPr>
          <a:xfrm>
            <a:off x="4389120" y="4297680"/>
            <a:ext cx="3200400" cy="457200"/>
          </a:xfrm>
          <a:prstGeom prst="rect">
            <a:avLst/>
          </a:prstGeom>
          <a:noFill/>
        </p:spPr>
        <p:txBody>
          <a:bodyPr wrap="square">
            <a:spAutoFit/>
          </a:bodyPr>
          <a:lstStyle/>
          <a:p>
            <a:pPr algn="l"/>
            <a:r>
              <a:rPr sz="1300" b="1" i="0">
                <a:solidFill>
                  <a:srgbClr val="FFFFFF"/>
                </a:solidFill>
              </a:rPr>
              <a:t>Post-Treatment Review</a:t>
            </a:r>
          </a:p>
        </p:txBody>
      </p:sp>
      <p:sp>
        <p:nvSpPr>
          <p:cNvPr id="25" name="TextBox 24"/>
          <p:cNvSpPr txBox="1"/>
          <p:nvPr/>
        </p:nvSpPr>
        <p:spPr>
          <a:xfrm>
            <a:off x="4389120" y="4709160"/>
            <a:ext cx="3291840" cy="1005840"/>
          </a:xfrm>
          <a:prstGeom prst="rect">
            <a:avLst/>
          </a:prstGeom>
          <a:noFill/>
        </p:spPr>
        <p:txBody>
          <a:bodyPr wrap="square">
            <a:spAutoFit/>
          </a:bodyPr>
          <a:lstStyle/>
          <a:p>
            <a:r>
              <a:rPr sz="1100">
                <a:solidFill>
                  <a:srgbClr val="E8E8E8"/>
                </a:solidFill>
              </a:rPr>
              <a:t>Effectiveness check, client briefing &amp; preventive advice</a:t>
            </a:r>
          </a:p>
        </p:txBody>
      </p:sp>
      <p:sp>
        <p:nvSpPr>
          <p:cNvPr id="26" name="Rectangle 25"/>
          <p:cNvSpPr/>
          <p:nvPr/>
        </p:nvSpPr>
        <p:spPr>
          <a:xfrm>
            <a:off x="8229600" y="3794760"/>
            <a:ext cx="3566160" cy="2103120"/>
          </a:xfrm>
          <a:prstGeom prst="rect">
            <a:avLst/>
          </a:prstGeom>
          <a:solidFill>
            <a:srgbClr val="1A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66760" y="3886200"/>
            <a:ext cx="731520" cy="457200"/>
          </a:xfrm>
          <a:prstGeom prst="rect">
            <a:avLst/>
          </a:prstGeom>
          <a:noFill/>
        </p:spPr>
        <p:txBody>
          <a:bodyPr wrap="square">
            <a:spAutoFit/>
          </a:bodyPr>
          <a:lstStyle/>
          <a:p>
            <a:pPr algn="l"/>
            <a:r>
              <a:rPr sz="2200" b="1" i="0">
                <a:solidFill>
                  <a:srgbClr val="BB1A1A"/>
                </a:solidFill>
              </a:rPr>
              <a:t>06</a:t>
            </a:r>
          </a:p>
        </p:txBody>
      </p:sp>
      <p:sp>
        <p:nvSpPr>
          <p:cNvPr id="28" name="TextBox 27"/>
          <p:cNvSpPr txBox="1"/>
          <p:nvPr/>
        </p:nvSpPr>
        <p:spPr>
          <a:xfrm>
            <a:off x="8366760" y="4297680"/>
            <a:ext cx="3200400" cy="457200"/>
          </a:xfrm>
          <a:prstGeom prst="rect">
            <a:avLst/>
          </a:prstGeom>
          <a:noFill/>
        </p:spPr>
        <p:txBody>
          <a:bodyPr wrap="square">
            <a:spAutoFit/>
          </a:bodyPr>
          <a:lstStyle/>
          <a:p>
            <a:pPr algn="l"/>
            <a:r>
              <a:rPr sz="1300" b="1" i="0">
                <a:solidFill>
                  <a:srgbClr val="FFFFFF"/>
                </a:solidFill>
              </a:rPr>
              <a:t>Ongoing Prevention</a:t>
            </a:r>
          </a:p>
        </p:txBody>
      </p:sp>
      <p:sp>
        <p:nvSpPr>
          <p:cNvPr id="29" name="TextBox 28"/>
          <p:cNvSpPr txBox="1"/>
          <p:nvPr/>
        </p:nvSpPr>
        <p:spPr>
          <a:xfrm>
            <a:off x="8366760" y="4709160"/>
            <a:ext cx="3291840" cy="1005840"/>
          </a:xfrm>
          <a:prstGeom prst="rect">
            <a:avLst/>
          </a:prstGeom>
          <a:noFill/>
        </p:spPr>
        <p:txBody>
          <a:bodyPr wrap="square">
            <a:spAutoFit/>
          </a:bodyPr>
          <a:lstStyle/>
          <a:p>
            <a:r>
              <a:rPr sz="1100">
                <a:solidFill>
                  <a:srgbClr val="E8E8E8"/>
                </a:solidFill>
              </a:rPr>
              <a:t>Scheduled follow-ups, monitoring &amp; long-term protection plans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B2E"/>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B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914400"/>
          </a:xfrm>
          <a:prstGeom prst="rect">
            <a:avLst/>
          </a:prstGeom>
          <a:noFill/>
        </p:spPr>
        <p:txBody>
          <a:bodyPr wrap="square">
            <a:spAutoFit/>
          </a:bodyPr>
          <a:lstStyle/>
          <a:p>
            <a:pPr algn="l"/>
            <a:r>
              <a:rPr sz="3600" b="1" i="0">
                <a:solidFill>
                  <a:srgbClr val="FFFFFF"/>
                </a:solidFill>
              </a:rPr>
              <a:t>Let's Work Together</a:t>
            </a:r>
          </a:p>
        </p:txBody>
      </p:sp>
      <p:sp>
        <p:nvSpPr>
          <p:cNvPr id="4" name="TextBox 3"/>
          <p:cNvSpPr txBox="1"/>
          <p:nvPr/>
        </p:nvSpPr>
        <p:spPr>
          <a:xfrm>
            <a:off x="914400" y="1554480"/>
            <a:ext cx="10332720" cy="2743200"/>
          </a:xfrm>
          <a:prstGeom prst="rect">
            <a:avLst/>
          </a:prstGeom>
          <a:noFill/>
        </p:spPr>
        <p:txBody>
          <a:bodyPr wrap="square">
            <a:spAutoFit/>
          </a:bodyPr>
          <a:lstStyle/>
          <a:p>
            <a:pPr algn="ctr"/>
            <a:r>
              <a:rPr sz="1600" i="1">
                <a:solidFill>
                  <a:srgbClr val="E8E8E8"/>
                </a:solidFill>
              </a:rPr>
              <a:t>"At Pest-Ex, we partner closely with our clients to provide safe, effective, and professionally managed pest and termite control solutions. Our approach is not just about immediate results — it's about building long-term relationships founded on trust, reliability, and the ongoing protection of your home or business. By combining our expertise with a tailored plan for each property, we ensure that every treatment prioritizes safety for your family, employees, and the environment while delivering lasting peace of mind."</a:t>
            </a:r>
          </a:p>
        </p:txBody>
      </p:sp>
      <p:sp>
        <p:nvSpPr>
          <p:cNvPr id="5" name="Rectangle 4"/>
          <p:cNvSpPr/>
          <p:nvPr/>
        </p:nvSpPr>
        <p:spPr>
          <a:xfrm>
            <a:off x="731520" y="4572000"/>
            <a:ext cx="3291840" cy="1280160"/>
          </a:xfrm>
          <a:prstGeom prst="rect">
            <a:avLst/>
          </a:prstGeom>
          <a:solidFill>
            <a:srgbClr val="B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663440"/>
            <a:ext cx="3017520" cy="411480"/>
          </a:xfrm>
          <a:prstGeom prst="rect">
            <a:avLst/>
          </a:prstGeom>
          <a:noFill/>
        </p:spPr>
        <p:txBody>
          <a:bodyPr wrap="square">
            <a:spAutoFit/>
          </a:bodyPr>
          <a:lstStyle/>
          <a:p>
            <a:pPr algn="ctr"/>
            <a:r>
              <a:rPr sz="1200" b="1" i="0">
                <a:solidFill>
                  <a:srgbClr val="FFFFFF"/>
                </a:solidFill>
              </a:rPr>
              <a:t>Phone</a:t>
            </a:r>
          </a:p>
        </p:txBody>
      </p:sp>
      <p:sp>
        <p:nvSpPr>
          <p:cNvPr id="7" name="TextBox 6"/>
          <p:cNvSpPr txBox="1"/>
          <p:nvPr/>
        </p:nvSpPr>
        <p:spPr>
          <a:xfrm>
            <a:off x="868680" y="5074920"/>
            <a:ext cx="3017520" cy="548640"/>
          </a:xfrm>
          <a:prstGeom prst="rect">
            <a:avLst/>
          </a:prstGeom>
          <a:noFill/>
        </p:spPr>
        <p:txBody>
          <a:bodyPr wrap="square">
            <a:spAutoFit/>
          </a:bodyPr>
          <a:lstStyle/>
          <a:p>
            <a:pPr algn="ctr"/>
            <a:r>
              <a:rPr sz="1300" b="0" i="0">
                <a:solidFill>
                  <a:srgbClr val="FFFFFF"/>
                </a:solidFill>
              </a:rPr>
              <a:t>(02) 8534 8380</a:t>
            </a:r>
          </a:p>
        </p:txBody>
      </p:sp>
      <p:sp>
        <p:nvSpPr>
          <p:cNvPr id="8" name="Rectangle 7"/>
          <p:cNvSpPr/>
          <p:nvPr/>
        </p:nvSpPr>
        <p:spPr>
          <a:xfrm>
            <a:off x="4480559" y="4572000"/>
            <a:ext cx="3291840" cy="1280160"/>
          </a:xfrm>
          <a:prstGeom prst="rect">
            <a:avLst/>
          </a:prstGeom>
          <a:solidFill>
            <a:srgbClr val="B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4663440"/>
            <a:ext cx="3017520" cy="411480"/>
          </a:xfrm>
          <a:prstGeom prst="rect">
            <a:avLst/>
          </a:prstGeom>
          <a:noFill/>
        </p:spPr>
        <p:txBody>
          <a:bodyPr wrap="square">
            <a:spAutoFit/>
          </a:bodyPr>
          <a:lstStyle/>
          <a:p>
            <a:pPr algn="ctr"/>
            <a:r>
              <a:rPr sz="1200" b="1" i="0">
                <a:solidFill>
                  <a:srgbClr val="FFFFFF"/>
                </a:solidFill>
              </a:rPr>
              <a:t>Website</a:t>
            </a:r>
          </a:p>
        </p:txBody>
      </p:sp>
      <p:sp>
        <p:nvSpPr>
          <p:cNvPr id="10" name="TextBox 9"/>
          <p:cNvSpPr txBox="1"/>
          <p:nvPr/>
        </p:nvSpPr>
        <p:spPr>
          <a:xfrm>
            <a:off x="4617720" y="5074920"/>
            <a:ext cx="3017520" cy="548640"/>
          </a:xfrm>
          <a:prstGeom prst="rect">
            <a:avLst/>
          </a:prstGeom>
          <a:noFill/>
        </p:spPr>
        <p:txBody>
          <a:bodyPr wrap="square">
            <a:spAutoFit/>
          </a:bodyPr>
          <a:lstStyle/>
          <a:p>
            <a:pPr algn="ctr"/>
            <a:r>
              <a:rPr sz="1300" b="0" i="0">
                <a:solidFill>
                  <a:srgbClr val="FFFFFF"/>
                </a:solidFill>
              </a:rPr>
              <a:t>www.pest-ex.com.ph</a:t>
            </a:r>
          </a:p>
        </p:txBody>
      </p:sp>
      <p:sp>
        <p:nvSpPr>
          <p:cNvPr id="11" name="Rectangle 10"/>
          <p:cNvSpPr/>
          <p:nvPr/>
        </p:nvSpPr>
        <p:spPr>
          <a:xfrm>
            <a:off x="8229600" y="4572000"/>
            <a:ext cx="3291840" cy="1280160"/>
          </a:xfrm>
          <a:prstGeom prst="rect">
            <a:avLst/>
          </a:prstGeom>
          <a:solidFill>
            <a:srgbClr val="B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60" y="4663440"/>
            <a:ext cx="3017520" cy="411480"/>
          </a:xfrm>
          <a:prstGeom prst="rect">
            <a:avLst/>
          </a:prstGeom>
          <a:noFill/>
        </p:spPr>
        <p:txBody>
          <a:bodyPr wrap="square">
            <a:spAutoFit/>
          </a:bodyPr>
          <a:lstStyle/>
          <a:p>
            <a:pPr algn="ctr"/>
            <a:r>
              <a:rPr sz="1200" b="1" i="0">
                <a:solidFill>
                  <a:srgbClr val="FFFFFF"/>
                </a:solidFill>
              </a:rPr>
              <a:t>Email</a:t>
            </a:r>
          </a:p>
        </p:txBody>
      </p:sp>
      <p:sp>
        <p:nvSpPr>
          <p:cNvPr id="13" name="TextBox 12"/>
          <p:cNvSpPr txBox="1"/>
          <p:nvPr/>
        </p:nvSpPr>
        <p:spPr>
          <a:xfrm>
            <a:off x="8366760" y="5074920"/>
            <a:ext cx="3017520" cy="548640"/>
          </a:xfrm>
          <a:prstGeom prst="rect">
            <a:avLst/>
          </a:prstGeom>
          <a:noFill/>
        </p:spPr>
        <p:txBody>
          <a:bodyPr wrap="square">
            <a:spAutoFit/>
          </a:bodyPr>
          <a:lstStyle/>
          <a:p>
            <a:pPr algn="ctr"/>
            <a:r>
              <a:rPr sz="1300" b="0" i="0">
                <a:solidFill>
                  <a:srgbClr val="FFFFFF"/>
                </a:solidFill>
              </a:rPr>
              <a:t>admin@pest-ex.com.ph</a:t>
            </a:r>
          </a:p>
        </p:txBody>
      </p:sp>
      <p:sp>
        <p:nvSpPr>
          <p:cNvPr id="14" name="TextBox 13"/>
          <p:cNvSpPr txBox="1"/>
          <p:nvPr/>
        </p:nvSpPr>
        <p:spPr>
          <a:xfrm>
            <a:off x="457200" y="6263640"/>
            <a:ext cx="11247120" cy="365760"/>
          </a:xfrm>
          <a:prstGeom prst="rect">
            <a:avLst/>
          </a:prstGeom>
          <a:noFill/>
        </p:spPr>
        <p:txBody>
          <a:bodyPr wrap="square">
            <a:spAutoFit/>
          </a:bodyPr>
          <a:lstStyle/>
          <a:p>
            <a:pPr algn="ctr"/>
            <a:r>
              <a:rPr sz="1100" b="0" i="0">
                <a:solidFill>
                  <a:srgbClr val="E8E8E8"/>
                </a:solidFill>
              </a:rPr>
              <a:t>pest-ex | Pest wants in, We keep them out!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